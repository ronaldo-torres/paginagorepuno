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10" r:id="rId1"/>
  </p:sldMasterIdLst>
  <p:sldIdLst>
    <p:sldId id="256" r:id="rId2"/>
    <p:sldId id="257" r:id="rId3"/>
    <p:sldId id="258" r:id="rId4"/>
    <p:sldId id="259" r:id="rId5"/>
    <p:sldId id="262" r:id="rId6"/>
    <p:sldId id="267" r:id="rId7"/>
    <p:sldId id="266" r:id="rId8"/>
    <p:sldId id="260" r:id="rId9"/>
    <p:sldId id="261" r:id="rId10"/>
    <p:sldId id="263" r:id="rId11"/>
    <p:sldId id="264" r:id="rId12"/>
    <p:sldId id="265" r:id="rId13"/>
    <p:sldId id="268" r:id="rId14"/>
    <p:sldId id="269" r:id="rId15"/>
    <p:sldId id="270" r:id="rId16"/>
    <p:sldId id="271" r:id="rId17"/>
    <p:sldId id="272" r:id="rId18"/>
    <p:sldId id="273" r:id="rId19"/>
    <p:sldId id="27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220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0995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758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11/17/2025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644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1713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752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025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11/17/2025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948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868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437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772578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7257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881875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3785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8794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617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35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7C942D-917C-F33A-4C53-CDFC57F994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sz="7200" dirty="0"/>
              <a:t>SISTEMA KAREN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EE775C-0ED9-76A2-D7F4-D9178E0D35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PE" dirty="0"/>
              <a:t>MOVIMIENTOS DE ALMACEN</a:t>
            </a:r>
          </a:p>
        </p:txBody>
      </p:sp>
    </p:spTree>
    <p:extLst>
      <p:ext uri="{BB962C8B-B14F-4D97-AF65-F5344CB8AC3E}">
        <p14:creationId xmlns:p14="http://schemas.microsoft.com/office/powerpoint/2010/main" val="3481438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D94478-E595-9916-3D2B-E25266EA7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INGRESAR AL SISTEMA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A9D779C-75FD-B0D4-614E-3C42C3762ED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s-PE" sz="1600" dirty="0"/>
              <a:t>Usted tendrá que iniciar con sus credenciales del sistema </a:t>
            </a:r>
            <a:r>
              <a:rPr lang="es-PE" sz="1600" b="1" dirty="0"/>
              <a:t>SILUCIA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C9B1AFE7-C4BA-ABF0-DA3E-AF5DA24C2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234" y="455003"/>
            <a:ext cx="7309353" cy="416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43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D94478-E595-9916-3D2B-E25266EA7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PRIMER ACCESO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A9D779C-75FD-B0D4-614E-3C42C3762ED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s-PE" sz="1600" dirty="0"/>
              <a:t>Usted tendrá esta vista, para la cual debe hacer clic en los botones indicados en la imagen.</a:t>
            </a:r>
            <a:endParaRPr lang="es-PE" sz="1600" b="1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F486A26F-AA58-81E5-CDEA-8D729FE74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217" y="706074"/>
            <a:ext cx="10737086" cy="3865925"/>
          </a:xfrm>
          <a:prstGeom prst="rect">
            <a:avLst/>
          </a:prstGeom>
        </p:spPr>
      </p:pic>
      <p:sp>
        <p:nvSpPr>
          <p:cNvPr id="17" name="Elipse 16">
            <a:extLst>
              <a:ext uri="{FF2B5EF4-FFF2-40B4-BE49-F238E27FC236}">
                <a16:creationId xmlns:a16="http://schemas.microsoft.com/office/drawing/2014/main" id="{9D954671-A0BA-E19A-0FD3-6DEB85397C50}"/>
              </a:ext>
            </a:extLst>
          </p:cNvPr>
          <p:cNvSpPr/>
          <p:nvPr/>
        </p:nvSpPr>
        <p:spPr>
          <a:xfrm>
            <a:off x="3224893" y="579665"/>
            <a:ext cx="579664" cy="595993"/>
          </a:xfrm>
          <a:prstGeom prst="ellipse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AE2D423B-4727-1E2C-F7F3-F2B324B495FF}"/>
              </a:ext>
            </a:extLst>
          </p:cNvPr>
          <p:cNvSpPr/>
          <p:nvPr/>
        </p:nvSpPr>
        <p:spPr>
          <a:xfrm>
            <a:off x="572217" y="1826079"/>
            <a:ext cx="2064848" cy="459921"/>
          </a:xfrm>
          <a:prstGeom prst="ellipse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9FED6FB-F419-FA47-3BA9-3551BEC1A57D}"/>
              </a:ext>
            </a:extLst>
          </p:cNvPr>
          <p:cNvSpPr txBox="1"/>
          <p:nvPr/>
        </p:nvSpPr>
        <p:spPr>
          <a:xfrm>
            <a:off x="2873829" y="68762"/>
            <a:ext cx="4816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4000" b="1" dirty="0">
                <a:solidFill>
                  <a:srgbClr val="92D050"/>
                </a:solidFill>
              </a:rPr>
              <a:t>1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30C03EE-1C0F-3E44-3A5E-9F3CB50D9457}"/>
              </a:ext>
            </a:extLst>
          </p:cNvPr>
          <p:cNvSpPr txBox="1"/>
          <p:nvPr/>
        </p:nvSpPr>
        <p:spPr>
          <a:xfrm>
            <a:off x="331371" y="2144852"/>
            <a:ext cx="4816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4000" b="1" dirty="0">
                <a:solidFill>
                  <a:srgbClr val="92D05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96966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D94478-E595-9916-3D2B-E25266EA7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563403"/>
            <a:ext cx="8596667" cy="566738"/>
          </a:xfrm>
        </p:spPr>
        <p:txBody>
          <a:bodyPr/>
          <a:lstStyle/>
          <a:p>
            <a:r>
              <a:rPr lang="es-PE" dirty="0"/>
              <a:t>VISTA DEL SISTEMA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A9D779C-75FD-B0D4-614E-3C42C3762E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7334" y="5162516"/>
            <a:ext cx="8596667" cy="1253898"/>
          </a:xfrm>
        </p:spPr>
        <p:txBody>
          <a:bodyPr>
            <a:normAutofit fontScale="92500" lnSpcReduction="20000"/>
          </a:bodyPr>
          <a:lstStyle/>
          <a:p>
            <a:r>
              <a:rPr lang="es-PE" sz="1600" dirty="0"/>
              <a:t>Usted podrá visualizar lo siguiente:</a:t>
            </a:r>
          </a:p>
          <a:p>
            <a:r>
              <a:rPr lang="es-PE" sz="1600" dirty="0"/>
              <a:t>1.	Meta(s), donde podrá seleccionar la meta a trabajar.</a:t>
            </a:r>
          </a:p>
          <a:p>
            <a:r>
              <a:rPr lang="es-PE" sz="1600" dirty="0"/>
              <a:t>2.	Roles en la meta</a:t>
            </a:r>
          </a:p>
          <a:p>
            <a:r>
              <a:rPr lang="es-PE" sz="1600" dirty="0"/>
              <a:t>3.	Ítems de la meta</a:t>
            </a:r>
          </a:p>
          <a:p>
            <a:endParaRPr lang="es-PE" sz="1600" b="1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C98E1CC-597C-661F-ADAD-D3FA57C8F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099" y="118166"/>
            <a:ext cx="7976972" cy="4399065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0D5B6FA5-40FE-E097-46DF-744F7DFB726C}"/>
              </a:ext>
            </a:extLst>
          </p:cNvPr>
          <p:cNvSpPr txBox="1"/>
          <p:nvPr/>
        </p:nvSpPr>
        <p:spPr>
          <a:xfrm>
            <a:off x="6441622" y="419826"/>
            <a:ext cx="342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400" b="1" dirty="0">
                <a:solidFill>
                  <a:srgbClr val="92D050"/>
                </a:solidFill>
              </a:rPr>
              <a:t>1</a:t>
            </a:r>
            <a:endParaRPr lang="es-PE" sz="4000" b="1" dirty="0">
              <a:solidFill>
                <a:srgbClr val="92D050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05D51BE-887C-785D-496B-7E8248E8E1E3}"/>
              </a:ext>
            </a:extLst>
          </p:cNvPr>
          <p:cNvSpPr txBox="1"/>
          <p:nvPr/>
        </p:nvSpPr>
        <p:spPr>
          <a:xfrm>
            <a:off x="579199" y="792661"/>
            <a:ext cx="342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400" b="1" dirty="0">
                <a:solidFill>
                  <a:srgbClr val="92D050"/>
                </a:solidFill>
              </a:rPr>
              <a:t>2</a:t>
            </a:r>
            <a:endParaRPr lang="es-PE" sz="4000" b="1" dirty="0">
              <a:solidFill>
                <a:srgbClr val="92D050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98ACED6-424D-5430-79AC-896B1B76DFE0}"/>
              </a:ext>
            </a:extLst>
          </p:cNvPr>
          <p:cNvSpPr txBox="1"/>
          <p:nvPr/>
        </p:nvSpPr>
        <p:spPr>
          <a:xfrm>
            <a:off x="579199" y="2726703"/>
            <a:ext cx="342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400" b="1" dirty="0">
                <a:solidFill>
                  <a:srgbClr val="92D050"/>
                </a:solidFill>
              </a:rPr>
              <a:t>3</a:t>
            </a:r>
            <a:endParaRPr lang="es-PE" sz="4000" b="1" dirty="0">
              <a:solidFill>
                <a:srgbClr val="92D050"/>
              </a:solidFill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F08E765-B7DE-BBBF-2F9E-F764C6191846}"/>
              </a:ext>
            </a:extLst>
          </p:cNvPr>
          <p:cNvSpPr/>
          <p:nvPr/>
        </p:nvSpPr>
        <p:spPr>
          <a:xfrm>
            <a:off x="6441622" y="419826"/>
            <a:ext cx="2457449" cy="461665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4825802-D168-E750-2173-E11CB7152F76}"/>
              </a:ext>
            </a:extLst>
          </p:cNvPr>
          <p:cNvSpPr/>
          <p:nvPr/>
        </p:nvSpPr>
        <p:spPr>
          <a:xfrm>
            <a:off x="579200" y="864915"/>
            <a:ext cx="1971496" cy="389411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277809E-7AFF-894C-34AD-25FD87894216}"/>
              </a:ext>
            </a:extLst>
          </p:cNvPr>
          <p:cNvSpPr/>
          <p:nvPr/>
        </p:nvSpPr>
        <p:spPr>
          <a:xfrm>
            <a:off x="579199" y="1526410"/>
            <a:ext cx="8502420" cy="3157885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41466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057C32-2CBB-E7CA-A9DF-71B868065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CARGA DE DATOS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A6453F1-E432-7070-4D62-492A63C71C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7"/>
            <a:ext cx="8596668" cy="195356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dirty="0"/>
              <a:t>Cargar sus Ordenes de Compras del sistema SILUCIA</a:t>
            </a:r>
          </a:p>
          <a:p>
            <a:endParaRPr lang="es-PE" sz="1400" dirty="0"/>
          </a:p>
          <a:p>
            <a:r>
              <a:rPr lang="es-PE" sz="1400" dirty="0"/>
              <a:t>Si usted no encuentra alguna OC en el sistema Karen, pero si en SILUCI, debe seguir los siguientes pasos</a:t>
            </a:r>
          </a:p>
        </p:txBody>
      </p:sp>
    </p:spTree>
    <p:extLst>
      <p:ext uri="{BB962C8B-B14F-4D97-AF65-F5344CB8AC3E}">
        <p14:creationId xmlns:p14="http://schemas.microsoft.com/office/powerpoint/2010/main" val="3137193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D94478-E595-9916-3D2B-E25266EA7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563403"/>
            <a:ext cx="8596667" cy="566738"/>
          </a:xfrm>
        </p:spPr>
        <p:txBody>
          <a:bodyPr/>
          <a:lstStyle/>
          <a:p>
            <a:r>
              <a:rPr lang="es-PE" dirty="0"/>
              <a:t>CARGA DE DATOS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A9D779C-75FD-B0D4-614E-3C42C3762E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7334" y="5162516"/>
            <a:ext cx="8596667" cy="1253898"/>
          </a:xfrm>
        </p:spPr>
        <p:txBody>
          <a:bodyPr>
            <a:normAutofit/>
          </a:bodyPr>
          <a:lstStyle/>
          <a:p>
            <a:r>
              <a:rPr lang="es-PE" sz="1600" dirty="0"/>
              <a:t>Para traer los ítems y OC de SILUCIA usted tendrá que presionar en el botón         ubicado en el cuadro resaltado en la imagen.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C98E1CC-597C-661F-ADAD-D3FA57C8F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099" y="118166"/>
            <a:ext cx="7976972" cy="4399065"/>
          </a:xfrm>
          <a:prstGeom prst="rect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5F08E765-B7DE-BBBF-2F9E-F764C6191846}"/>
              </a:ext>
            </a:extLst>
          </p:cNvPr>
          <p:cNvSpPr/>
          <p:nvPr/>
        </p:nvSpPr>
        <p:spPr>
          <a:xfrm>
            <a:off x="922099" y="1163053"/>
            <a:ext cx="2457449" cy="449179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1D680CF-15CC-B1CB-8C88-2CD055D1C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8442" y="5063038"/>
            <a:ext cx="425128" cy="464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704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057C32-2CBB-E7CA-A9DF-71B868065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MOVIMIENTOS DE ALMACEN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A6453F1-E432-7070-4D62-492A63C71C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7"/>
            <a:ext cx="8596668" cy="195356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dirty="0"/>
              <a:t>Buscar un ítem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dirty="0"/>
              <a:t>Registrar entradas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dirty="0"/>
              <a:t>Registrar salidas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dirty="0"/>
              <a:t>Ver movimientos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936786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D94478-E595-9916-3D2B-E25266EA7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600075"/>
            <a:ext cx="8596667" cy="566738"/>
          </a:xfrm>
        </p:spPr>
        <p:txBody>
          <a:bodyPr/>
          <a:lstStyle/>
          <a:p>
            <a:r>
              <a:rPr lang="es-PE" dirty="0"/>
              <a:t>BUSQUEDA DE UN ÍTEM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A9D779C-75FD-B0D4-614E-3C42C3762E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7334" y="5182855"/>
            <a:ext cx="8596667" cy="1252180"/>
          </a:xfrm>
        </p:spPr>
        <p:txBody>
          <a:bodyPr>
            <a:normAutofit fontScale="92500" lnSpcReduction="20000"/>
          </a:bodyPr>
          <a:lstStyle/>
          <a:p>
            <a:r>
              <a:rPr lang="es-PE" sz="1600" dirty="0"/>
              <a:t>Usted podrá realizar la búsqueda de un ítem por los siguientes campos:</a:t>
            </a:r>
          </a:p>
          <a:p>
            <a:r>
              <a:rPr lang="es-PE" sz="1600" dirty="0"/>
              <a:t>1.	Nombre</a:t>
            </a:r>
          </a:p>
          <a:p>
            <a:r>
              <a:rPr lang="es-PE" sz="1600" dirty="0"/>
              <a:t>2.	Número de OC</a:t>
            </a:r>
          </a:p>
          <a:p>
            <a:r>
              <a:rPr lang="es-PE" sz="1600" dirty="0"/>
              <a:t>3.	Año de la OC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8E506C1-8781-CBD1-74E7-E04672F2A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804" y="238482"/>
            <a:ext cx="7976972" cy="4399065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3CDDA091-2FB5-2C2F-4571-F655CC7E119A}"/>
              </a:ext>
            </a:extLst>
          </p:cNvPr>
          <p:cNvSpPr/>
          <p:nvPr/>
        </p:nvSpPr>
        <p:spPr>
          <a:xfrm>
            <a:off x="4636885" y="1335616"/>
            <a:ext cx="4181975" cy="355571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59097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D94478-E595-9916-3D2B-E25266EA7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600075"/>
            <a:ext cx="8596667" cy="566738"/>
          </a:xfrm>
        </p:spPr>
        <p:txBody>
          <a:bodyPr/>
          <a:lstStyle/>
          <a:p>
            <a:r>
              <a:rPr lang="es-PE" dirty="0"/>
              <a:t>REGISTRAR MOVIMIENTO DE ALMACEN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A9D779C-75FD-B0D4-614E-3C42C3762E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7334" y="5182855"/>
            <a:ext cx="8596667" cy="1252180"/>
          </a:xfrm>
        </p:spPr>
        <p:txBody>
          <a:bodyPr>
            <a:normAutofit/>
          </a:bodyPr>
          <a:lstStyle/>
          <a:p>
            <a:r>
              <a:rPr lang="es-PE" sz="1600" dirty="0"/>
              <a:t>Para el registro de un movimiento usted tendrá que realizar lo siguiente:</a:t>
            </a:r>
          </a:p>
          <a:p>
            <a:r>
              <a:rPr lang="es-PE" sz="1600" dirty="0"/>
              <a:t>1. Presionar el botón      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8E506C1-8781-CBD1-74E7-E04672F2A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804" y="238482"/>
            <a:ext cx="7976972" cy="4399065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3CDDA091-2FB5-2C2F-4571-F655CC7E119A}"/>
              </a:ext>
            </a:extLst>
          </p:cNvPr>
          <p:cNvSpPr/>
          <p:nvPr/>
        </p:nvSpPr>
        <p:spPr>
          <a:xfrm>
            <a:off x="7829265" y="2077453"/>
            <a:ext cx="255956" cy="272715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AE702E1-D4CA-F7EF-443C-F5AA04D522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3073" y="5524473"/>
            <a:ext cx="304843" cy="38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163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D94478-E595-9916-3D2B-E25266EA7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934" y="377741"/>
            <a:ext cx="8596667" cy="566738"/>
          </a:xfrm>
        </p:spPr>
        <p:txBody>
          <a:bodyPr/>
          <a:lstStyle/>
          <a:p>
            <a:r>
              <a:rPr lang="es-PE" dirty="0"/>
              <a:t>INGRESAR REGISTRO DE MOVIMIENTO 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A9D779C-75FD-B0D4-614E-3C42C3762E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23" y="1097988"/>
            <a:ext cx="8596667" cy="566738"/>
          </a:xfrm>
        </p:spPr>
        <p:txBody>
          <a:bodyPr>
            <a:normAutofit/>
          </a:bodyPr>
          <a:lstStyle/>
          <a:p>
            <a:r>
              <a:rPr lang="es-PE" sz="1600" dirty="0"/>
              <a:t>Una vez presionado el botón      usted tendrá la siguiente vista 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AE702E1-D4CA-F7EF-443C-F5AA04D52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4651" y="1056746"/>
            <a:ext cx="304843" cy="38105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272BE1D-792B-03B3-9E22-214DC7E97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781" y="1705968"/>
            <a:ext cx="4544059" cy="4877481"/>
          </a:xfrm>
          <a:prstGeom prst="rect">
            <a:avLst/>
          </a:prstGeom>
        </p:spPr>
      </p:pic>
      <p:sp>
        <p:nvSpPr>
          <p:cNvPr id="9" name="Marcador de texto 3">
            <a:extLst>
              <a:ext uri="{FF2B5EF4-FFF2-40B4-BE49-F238E27FC236}">
                <a16:creationId xmlns:a16="http://schemas.microsoft.com/office/drawing/2014/main" id="{968F9141-3EB1-96A9-026E-035F8F7DB9E2}"/>
              </a:ext>
            </a:extLst>
          </p:cNvPr>
          <p:cNvSpPr txBox="1">
            <a:spLocks/>
          </p:cNvSpPr>
          <p:nvPr/>
        </p:nvSpPr>
        <p:spPr>
          <a:xfrm>
            <a:off x="5772367" y="3104148"/>
            <a:ext cx="3493612" cy="11389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sz="1600" dirty="0"/>
              <a:t>Donde podrá registrar un tipo de movimiento, ingresar la cantidad, fecha de movimiento y alguna observación si las hubiera.</a:t>
            </a:r>
          </a:p>
        </p:txBody>
      </p:sp>
      <p:sp>
        <p:nvSpPr>
          <p:cNvPr id="14" name="Llaves 13">
            <a:extLst>
              <a:ext uri="{FF2B5EF4-FFF2-40B4-BE49-F238E27FC236}">
                <a16:creationId xmlns:a16="http://schemas.microsoft.com/office/drawing/2014/main" id="{C2AE0534-E6F6-C2D0-A708-78F30B64E91A}"/>
              </a:ext>
            </a:extLst>
          </p:cNvPr>
          <p:cNvSpPr/>
          <p:nvPr/>
        </p:nvSpPr>
        <p:spPr>
          <a:xfrm>
            <a:off x="5437442" y="2975811"/>
            <a:ext cx="3907084" cy="1355557"/>
          </a:xfrm>
          <a:prstGeom prst="bracePair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3097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D94478-E595-9916-3D2B-E25266EA7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600075"/>
            <a:ext cx="8596667" cy="566738"/>
          </a:xfrm>
        </p:spPr>
        <p:txBody>
          <a:bodyPr/>
          <a:lstStyle/>
          <a:p>
            <a:r>
              <a:rPr lang="es-PE" dirty="0"/>
              <a:t>VER MOVIMIENTOS REALIZADOS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A9D779C-75FD-B0D4-614E-3C42C3762E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7334" y="5182855"/>
            <a:ext cx="8596667" cy="1252180"/>
          </a:xfrm>
        </p:spPr>
        <p:txBody>
          <a:bodyPr>
            <a:normAutofit/>
          </a:bodyPr>
          <a:lstStyle/>
          <a:p>
            <a:r>
              <a:rPr lang="es-PE" sz="1600" dirty="0"/>
              <a:t>Para el visualizar los movimientos realizados usted tendrá que realizar lo siguiente:</a:t>
            </a:r>
          </a:p>
          <a:p>
            <a:r>
              <a:rPr lang="es-PE" sz="1600" dirty="0"/>
              <a:t>1. Presionar el botón      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8E506C1-8781-CBD1-74E7-E04672F2A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804" y="238482"/>
            <a:ext cx="7976972" cy="4399065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3CDDA091-2FB5-2C2F-4571-F655CC7E119A}"/>
              </a:ext>
            </a:extLst>
          </p:cNvPr>
          <p:cNvSpPr/>
          <p:nvPr/>
        </p:nvSpPr>
        <p:spPr>
          <a:xfrm>
            <a:off x="7564572" y="2077453"/>
            <a:ext cx="255956" cy="272715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0C6584B-6BF0-730B-F0E1-0C91DA348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5489" y="5583313"/>
            <a:ext cx="276264" cy="28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349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D94478-E595-9916-3D2B-E25266EA7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934" y="377741"/>
            <a:ext cx="8596667" cy="566738"/>
          </a:xfrm>
        </p:spPr>
        <p:txBody>
          <a:bodyPr/>
          <a:lstStyle/>
          <a:p>
            <a:r>
              <a:rPr lang="es-PE" dirty="0"/>
              <a:t>VISUALIZAR REGISTRO DE MOVIMIENTO 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A9D779C-75FD-B0D4-614E-3C42C3762E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23" y="1097988"/>
            <a:ext cx="8596667" cy="566738"/>
          </a:xfrm>
        </p:spPr>
        <p:txBody>
          <a:bodyPr>
            <a:normAutofit/>
          </a:bodyPr>
          <a:lstStyle/>
          <a:p>
            <a:r>
              <a:rPr lang="es-PE" sz="1600" dirty="0"/>
              <a:t>Una vez presionado el botón      usted tendrá la siguiente vista </a:t>
            </a:r>
          </a:p>
        </p:txBody>
      </p:sp>
      <p:sp>
        <p:nvSpPr>
          <p:cNvPr id="9" name="Marcador de texto 3">
            <a:extLst>
              <a:ext uri="{FF2B5EF4-FFF2-40B4-BE49-F238E27FC236}">
                <a16:creationId xmlns:a16="http://schemas.microsoft.com/office/drawing/2014/main" id="{968F9141-3EB1-96A9-026E-035F8F7DB9E2}"/>
              </a:ext>
            </a:extLst>
          </p:cNvPr>
          <p:cNvSpPr txBox="1">
            <a:spLocks/>
          </p:cNvSpPr>
          <p:nvPr/>
        </p:nvSpPr>
        <p:spPr>
          <a:xfrm>
            <a:off x="1689650" y="4876802"/>
            <a:ext cx="3493612" cy="11389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sz="1600" dirty="0"/>
              <a:t>Donde podrá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1600" dirty="0"/>
              <a:t>Visualizar sus movimientos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1600" dirty="0"/>
              <a:t>Eliminar un movimiento</a:t>
            </a:r>
          </a:p>
        </p:txBody>
      </p:sp>
      <p:sp>
        <p:nvSpPr>
          <p:cNvPr id="14" name="Llaves 13">
            <a:extLst>
              <a:ext uri="{FF2B5EF4-FFF2-40B4-BE49-F238E27FC236}">
                <a16:creationId xmlns:a16="http://schemas.microsoft.com/office/drawing/2014/main" id="{C2AE0534-E6F6-C2D0-A708-78F30B64E91A}"/>
              </a:ext>
            </a:extLst>
          </p:cNvPr>
          <p:cNvSpPr/>
          <p:nvPr/>
        </p:nvSpPr>
        <p:spPr>
          <a:xfrm>
            <a:off x="1354724" y="4748465"/>
            <a:ext cx="4276053" cy="1355557"/>
          </a:xfrm>
          <a:prstGeom prst="bracePair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37E4B4B-D45B-74D4-A857-2AB2E8B08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4984" y="1088442"/>
            <a:ext cx="276264" cy="28579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7FFA63E-435B-E466-670B-29EC3CFF24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140" y="1620775"/>
            <a:ext cx="8421461" cy="2897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4085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057C32-2CBB-E7CA-A9DF-71B868065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GENERAR REPORTES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A6453F1-E432-7070-4D62-492A63C71C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7"/>
            <a:ext cx="3325170" cy="195356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dirty="0"/>
              <a:t>Reportes acumulados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dirty="0"/>
              <a:t>Reportes valorizados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dirty="0"/>
              <a:t>Movimiento diario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dirty="0"/>
              <a:t>Kardex</a:t>
            </a:r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5CC87811-C034-932A-5322-A0349C63629A}"/>
              </a:ext>
            </a:extLst>
          </p:cNvPr>
          <p:cNvSpPr txBox="1">
            <a:spLocks/>
          </p:cNvSpPr>
          <p:nvPr/>
        </p:nvSpPr>
        <p:spPr>
          <a:xfrm>
            <a:off x="4695882" y="4527447"/>
            <a:ext cx="3325170" cy="1953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dirty="0"/>
              <a:t>Ver reportes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dirty="0"/>
              <a:t>Rechazar reportes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dirty="0"/>
              <a:t>Eliminar reportes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dirty="0"/>
              <a:t>Firmar reportes</a:t>
            </a:r>
          </a:p>
        </p:txBody>
      </p:sp>
    </p:spTree>
    <p:extLst>
      <p:ext uri="{BB962C8B-B14F-4D97-AF65-F5344CB8AC3E}">
        <p14:creationId xmlns:p14="http://schemas.microsoft.com/office/powerpoint/2010/main" val="9555697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D94478-E595-9916-3D2B-E25266EA7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600075"/>
            <a:ext cx="8596667" cy="566738"/>
          </a:xfrm>
        </p:spPr>
        <p:txBody>
          <a:bodyPr/>
          <a:lstStyle/>
          <a:p>
            <a:r>
              <a:rPr lang="es-PE" dirty="0"/>
              <a:t>GENERACIÓN DE REPORTES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A9D779C-75FD-B0D4-614E-3C42C3762E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7334" y="5182855"/>
            <a:ext cx="8596667" cy="1252180"/>
          </a:xfrm>
        </p:spPr>
        <p:txBody>
          <a:bodyPr>
            <a:normAutofit/>
          </a:bodyPr>
          <a:lstStyle/>
          <a:p>
            <a:r>
              <a:rPr lang="es-PE" sz="1600" dirty="0"/>
              <a:t>Para poder generar un reporte usted tendrá que:</a:t>
            </a:r>
          </a:p>
          <a:p>
            <a:r>
              <a:rPr lang="es-PE" sz="1600" dirty="0"/>
              <a:t>1. Presionar el botón       ubicado en el apartado del cuadro resaltado en la imagen.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8E506C1-8781-CBD1-74E7-E04672F2A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804" y="238482"/>
            <a:ext cx="7976972" cy="4399065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3CDDA091-2FB5-2C2F-4571-F655CC7E119A}"/>
              </a:ext>
            </a:extLst>
          </p:cNvPr>
          <p:cNvSpPr/>
          <p:nvPr/>
        </p:nvSpPr>
        <p:spPr>
          <a:xfrm>
            <a:off x="809805" y="1342274"/>
            <a:ext cx="1067122" cy="348914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C276DEE-810B-E3DC-193F-C7264B6E2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074" y="5514971"/>
            <a:ext cx="413699" cy="378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2530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D94478-E595-9916-3D2B-E25266EA7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934" y="377741"/>
            <a:ext cx="8596667" cy="566738"/>
          </a:xfrm>
        </p:spPr>
        <p:txBody>
          <a:bodyPr/>
          <a:lstStyle/>
          <a:p>
            <a:r>
              <a:rPr lang="es-PE" dirty="0"/>
              <a:t>VISTA DE REPORTES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A9D779C-75FD-B0D4-614E-3C42C3762E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23" y="1097988"/>
            <a:ext cx="8596667" cy="566738"/>
          </a:xfrm>
        </p:spPr>
        <p:txBody>
          <a:bodyPr>
            <a:normAutofit/>
          </a:bodyPr>
          <a:lstStyle/>
          <a:p>
            <a:r>
              <a:rPr lang="es-PE" sz="1600" dirty="0"/>
              <a:t>Una vez presionado el botón         usted tendrá la siguiente vista </a:t>
            </a:r>
          </a:p>
        </p:txBody>
      </p:sp>
      <p:sp>
        <p:nvSpPr>
          <p:cNvPr id="9" name="Marcador de texto 3">
            <a:extLst>
              <a:ext uri="{FF2B5EF4-FFF2-40B4-BE49-F238E27FC236}">
                <a16:creationId xmlns:a16="http://schemas.microsoft.com/office/drawing/2014/main" id="{968F9141-3EB1-96A9-026E-035F8F7DB9E2}"/>
              </a:ext>
            </a:extLst>
          </p:cNvPr>
          <p:cNvSpPr txBox="1">
            <a:spLocks/>
          </p:cNvSpPr>
          <p:nvPr/>
        </p:nvSpPr>
        <p:spPr>
          <a:xfrm>
            <a:off x="959733" y="4621022"/>
            <a:ext cx="4518645" cy="11389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sz="1600" dirty="0"/>
              <a:t>Donde podrá</a:t>
            </a:r>
          </a:p>
          <a:p>
            <a:r>
              <a:rPr lang="es-PE" sz="1600" dirty="0"/>
              <a:t>1.	Generar reportes</a:t>
            </a:r>
          </a:p>
          <a:p>
            <a:r>
              <a:rPr lang="es-PE" sz="1600" dirty="0"/>
              <a:t>2.	Ver y firmar sus reportes generados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1DC3072-BAFE-1E68-BB6A-E954D8A40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975" y="1072816"/>
            <a:ext cx="431429" cy="39445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B8565B5-182E-DB07-15C4-1E8B61318B9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0274"/>
          <a:stretch/>
        </p:blipFill>
        <p:spPr>
          <a:xfrm>
            <a:off x="826168" y="1664726"/>
            <a:ext cx="7713768" cy="1415669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CC1BD093-C7FD-ECA0-D3ED-A176FE2FDA4D}"/>
              </a:ext>
            </a:extLst>
          </p:cNvPr>
          <p:cNvSpPr/>
          <p:nvPr/>
        </p:nvSpPr>
        <p:spPr>
          <a:xfrm>
            <a:off x="753657" y="1919790"/>
            <a:ext cx="7925121" cy="1232484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58F0D83B-A03E-715B-D4E2-97D3CD9A832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6828"/>
          <a:stretch/>
        </p:blipFill>
        <p:spPr>
          <a:xfrm>
            <a:off x="931844" y="3599903"/>
            <a:ext cx="7713768" cy="891540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F2ABC155-1BA9-8005-3D3C-268E355C3409}"/>
              </a:ext>
            </a:extLst>
          </p:cNvPr>
          <p:cNvSpPr/>
          <p:nvPr/>
        </p:nvSpPr>
        <p:spPr>
          <a:xfrm>
            <a:off x="826168" y="3532022"/>
            <a:ext cx="7925121" cy="891540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761842E-1B6C-6F17-0E8A-7862BE876FBC}"/>
              </a:ext>
            </a:extLst>
          </p:cNvPr>
          <p:cNvSpPr txBox="1"/>
          <p:nvPr/>
        </p:nvSpPr>
        <p:spPr>
          <a:xfrm>
            <a:off x="410757" y="2336208"/>
            <a:ext cx="342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400" b="1" dirty="0">
                <a:solidFill>
                  <a:srgbClr val="92D050"/>
                </a:solidFill>
              </a:rPr>
              <a:t>1</a:t>
            </a:r>
            <a:endParaRPr lang="es-PE" sz="4000" b="1" dirty="0">
              <a:solidFill>
                <a:srgbClr val="92D050"/>
              </a:solidFill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06DA68C-6A58-A9C8-B352-1C7F4F0D9E93}"/>
              </a:ext>
            </a:extLst>
          </p:cNvPr>
          <p:cNvSpPr txBox="1"/>
          <p:nvPr/>
        </p:nvSpPr>
        <p:spPr>
          <a:xfrm>
            <a:off x="425673" y="3725651"/>
            <a:ext cx="342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400" b="1" dirty="0">
                <a:solidFill>
                  <a:srgbClr val="92D050"/>
                </a:solidFill>
              </a:rPr>
              <a:t>2</a:t>
            </a:r>
            <a:endParaRPr lang="es-PE" sz="4000" b="1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08913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D94478-E595-9916-3D2B-E25266EA7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934" y="377741"/>
            <a:ext cx="8596667" cy="566738"/>
          </a:xfrm>
        </p:spPr>
        <p:txBody>
          <a:bodyPr/>
          <a:lstStyle/>
          <a:p>
            <a:r>
              <a:rPr lang="es-PE" dirty="0"/>
              <a:t>GENERAR REPORTE</a:t>
            </a:r>
          </a:p>
        </p:txBody>
      </p:sp>
      <p:sp>
        <p:nvSpPr>
          <p:cNvPr id="9" name="Marcador de texto 3">
            <a:extLst>
              <a:ext uri="{FF2B5EF4-FFF2-40B4-BE49-F238E27FC236}">
                <a16:creationId xmlns:a16="http://schemas.microsoft.com/office/drawing/2014/main" id="{968F9141-3EB1-96A9-026E-035F8F7DB9E2}"/>
              </a:ext>
            </a:extLst>
          </p:cNvPr>
          <p:cNvSpPr txBox="1">
            <a:spLocks/>
          </p:cNvSpPr>
          <p:nvPr/>
        </p:nvSpPr>
        <p:spPr>
          <a:xfrm>
            <a:off x="927649" y="3150976"/>
            <a:ext cx="4518645" cy="2158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sz="1600" dirty="0"/>
              <a:t>Uste podrá: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1600" dirty="0"/>
              <a:t>Seleccionar el tipo de reporte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1600" dirty="0"/>
              <a:t>Aplicar un filtro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1600" dirty="0"/>
              <a:t>Generar por rango de fechas 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B8565B5-182E-DB07-15C4-1E8B61318B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0274"/>
          <a:stretch/>
        </p:blipFill>
        <p:spPr>
          <a:xfrm>
            <a:off x="826168" y="1480243"/>
            <a:ext cx="7713768" cy="1415669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CC1BD093-C7FD-ECA0-D3ED-A176FE2FDA4D}"/>
              </a:ext>
            </a:extLst>
          </p:cNvPr>
          <p:cNvSpPr/>
          <p:nvPr/>
        </p:nvSpPr>
        <p:spPr>
          <a:xfrm>
            <a:off x="753657" y="1735307"/>
            <a:ext cx="7925121" cy="1232484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572366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D94478-E595-9916-3D2B-E25266EA7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934" y="377741"/>
            <a:ext cx="8596667" cy="566738"/>
          </a:xfrm>
        </p:spPr>
        <p:txBody>
          <a:bodyPr/>
          <a:lstStyle/>
          <a:p>
            <a:r>
              <a:rPr lang="es-PE" dirty="0"/>
              <a:t>ACCIONES DEL REPORTE</a:t>
            </a:r>
          </a:p>
        </p:txBody>
      </p:sp>
      <p:sp>
        <p:nvSpPr>
          <p:cNvPr id="9" name="Marcador de texto 3">
            <a:extLst>
              <a:ext uri="{FF2B5EF4-FFF2-40B4-BE49-F238E27FC236}">
                <a16:creationId xmlns:a16="http://schemas.microsoft.com/office/drawing/2014/main" id="{968F9141-3EB1-96A9-026E-035F8F7DB9E2}"/>
              </a:ext>
            </a:extLst>
          </p:cNvPr>
          <p:cNvSpPr txBox="1">
            <a:spLocks/>
          </p:cNvSpPr>
          <p:nvPr/>
        </p:nvSpPr>
        <p:spPr>
          <a:xfrm>
            <a:off x="462430" y="3150975"/>
            <a:ext cx="9964938" cy="3329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sz="1600" dirty="0"/>
              <a:t>Para firmar hacer clic en el siguiente botón         donde podrá visualizar las siguientes opciones:</a:t>
            </a:r>
          </a:p>
          <a:p>
            <a:endParaRPr lang="es-PE" sz="1600" dirty="0"/>
          </a:p>
          <a:p>
            <a:endParaRPr lang="es-PE" sz="1600" dirty="0"/>
          </a:p>
          <a:p>
            <a:endParaRPr lang="es-PE" sz="600" dirty="0"/>
          </a:p>
          <a:p>
            <a:r>
              <a:rPr lang="es-PE" sz="1600" dirty="0"/>
              <a:t>Usted tendrá las siguientes opciones</a:t>
            </a:r>
          </a:p>
          <a:p>
            <a:r>
              <a:rPr lang="es-PE" sz="1600" dirty="0"/>
              <a:t>1.	Eliminar un reporte, siempre y cuando no tenga ninguna firma y usted tenga el rol   de almacenero.</a:t>
            </a:r>
          </a:p>
          <a:p>
            <a:r>
              <a:rPr lang="es-PE" sz="1600" dirty="0"/>
              <a:t>2.	Rechazar un reporte.</a:t>
            </a:r>
          </a:p>
          <a:p>
            <a:r>
              <a:rPr lang="es-PE" sz="1600" dirty="0"/>
              <a:t>3.	Descargar el reporte generado.</a:t>
            </a:r>
          </a:p>
          <a:p>
            <a:r>
              <a:rPr lang="es-PE" sz="1600" dirty="0"/>
              <a:t>4.	Firmar el reporte.</a:t>
            </a:r>
          </a:p>
          <a:p>
            <a:endParaRPr lang="es-PE" sz="1600" dirty="0"/>
          </a:p>
          <a:p>
            <a:endParaRPr lang="es-PE" sz="160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C1BD093-C7FD-ECA0-D3ED-A176FE2FDA4D}"/>
              </a:ext>
            </a:extLst>
          </p:cNvPr>
          <p:cNvSpPr/>
          <p:nvPr/>
        </p:nvSpPr>
        <p:spPr>
          <a:xfrm>
            <a:off x="753657" y="1735307"/>
            <a:ext cx="7925121" cy="1232484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EDE79A2-BD59-B430-AE84-847CF3862D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6828"/>
          <a:stretch/>
        </p:blipFill>
        <p:spPr>
          <a:xfrm>
            <a:off x="859333" y="1905779"/>
            <a:ext cx="7713768" cy="89154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4E29FC1-4E68-9FA7-5425-6098D0234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8818" y="3518575"/>
            <a:ext cx="2333951" cy="74305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14404ED3-C5AF-B8A7-8A98-AD7AA8967A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9617" y="3138263"/>
            <a:ext cx="392355" cy="413374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0C1619C8-C1F3-3EF4-9522-9349074464EA}"/>
              </a:ext>
            </a:extLst>
          </p:cNvPr>
          <p:cNvSpPr txBox="1"/>
          <p:nvPr/>
        </p:nvSpPr>
        <p:spPr>
          <a:xfrm>
            <a:off x="3844089" y="4018365"/>
            <a:ext cx="3027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dirty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00CA212-A101-DD47-DA07-329A534DF043}"/>
              </a:ext>
            </a:extLst>
          </p:cNvPr>
          <p:cNvSpPr txBox="1"/>
          <p:nvPr/>
        </p:nvSpPr>
        <p:spPr>
          <a:xfrm>
            <a:off x="4229099" y="4018365"/>
            <a:ext cx="3027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dirty="0">
                <a:solidFill>
                  <a:schemeClr val="accent2"/>
                </a:solidFill>
              </a:rPr>
              <a:t>2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2C26661-B14C-4FD1-95F1-C81965734966}"/>
              </a:ext>
            </a:extLst>
          </p:cNvPr>
          <p:cNvSpPr txBox="1"/>
          <p:nvPr/>
        </p:nvSpPr>
        <p:spPr>
          <a:xfrm>
            <a:off x="4614109" y="4018365"/>
            <a:ext cx="3027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dirty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3006C43-D0C6-E888-5B97-19B361E0F36E}"/>
              </a:ext>
            </a:extLst>
          </p:cNvPr>
          <p:cNvSpPr txBox="1"/>
          <p:nvPr/>
        </p:nvSpPr>
        <p:spPr>
          <a:xfrm>
            <a:off x="4999119" y="4018365"/>
            <a:ext cx="3027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dirty="0">
                <a:solidFill>
                  <a:schemeClr val="accent2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7505487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n 20">
            <a:extLst>
              <a:ext uri="{FF2B5EF4-FFF2-40B4-BE49-F238E27FC236}">
                <a16:creationId xmlns:a16="http://schemas.microsoft.com/office/drawing/2014/main" id="{30EA83BF-8DDE-68DF-38B2-FBC27F3BF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714" y="4706339"/>
            <a:ext cx="2995961" cy="156685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4D94478-E595-9916-3D2B-E25266EA7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934" y="377741"/>
            <a:ext cx="8596667" cy="566738"/>
          </a:xfrm>
        </p:spPr>
        <p:txBody>
          <a:bodyPr/>
          <a:lstStyle/>
          <a:p>
            <a:r>
              <a:rPr lang="es-PE" dirty="0"/>
              <a:t>FIRMAR EL REPORTE</a:t>
            </a:r>
          </a:p>
        </p:txBody>
      </p:sp>
      <p:sp>
        <p:nvSpPr>
          <p:cNvPr id="9" name="Marcador de texto 3">
            <a:extLst>
              <a:ext uri="{FF2B5EF4-FFF2-40B4-BE49-F238E27FC236}">
                <a16:creationId xmlns:a16="http://schemas.microsoft.com/office/drawing/2014/main" id="{968F9141-3EB1-96A9-026E-035F8F7DB9E2}"/>
              </a:ext>
            </a:extLst>
          </p:cNvPr>
          <p:cNvSpPr txBox="1">
            <a:spLocks/>
          </p:cNvSpPr>
          <p:nvPr/>
        </p:nvSpPr>
        <p:spPr>
          <a:xfrm>
            <a:off x="692291" y="2165472"/>
            <a:ext cx="8636766" cy="4524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sz="1400" dirty="0"/>
              <a:t>2. Seleccionar tipo de firma</a:t>
            </a:r>
            <a:endParaRPr lang="es-PE" sz="16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C093ACA-BD81-EF37-F5D2-6CE462F7BBB1}"/>
              </a:ext>
            </a:extLst>
          </p:cNvPr>
          <p:cNvSpPr txBox="1"/>
          <p:nvPr/>
        </p:nvSpPr>
        <p:spPr>
          <a:xfrm>
            <a:off x="618812" y="1046368"/>
            <a:ext cx="80599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1. Para firmar un reporte usted deberá seguir la siguiente secuencia. </a:t>
            </a:r>
          </a:p>
        </p:txBody>
      </p:sp>
      <p:sp>
        <p:nvSpPr>
          <p:cNvPr id="18" name="Marcador de texto 3">
            <a:extLst>
              <a:ext uri="{FF2B5EF4-FFF2-40B4-BE49-F238E27FC236}">
                <a16:creationId xmlns:a16="http://schemas.microsoft.com/office/drawing/2014/main" id="{B07EC81D-6C25-B01E-A6D1-732CBE0E5D3C}"/>
              </a:ext>
            </a:extLst>
          </p:cNvPr>
          <p:cNvSpPr txBox="1">
            <a:spLocks/>
          </p:cNvSpPr>
          <p:nvPr/>
        </p:nvSpPr>
        <p:spPr>
          <a:xfrm>
            <a:off x="692291" y="4200014"/>
            <a:ext cx="7047452" cy="4524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sz="1400" dirty="0"/>
              <a:t>3. En caso de seleccionar Firma Digital, seguir los pasos de instalación.</a:t>
            </a:r>
          </a:p>
          <a:p>
            <a:endParaRPr lang="es-PE" sz="1600" dirty="0"/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F1EBB3C5-5EF0-C90F-A6EB-9AE59285403F}"/>
              </a:ext>
            </a:extLst>
          </p:cNvPr>
          <p:cNvCxnSpPr>
            <a:cxnSpLocks/>
          </p:cNvCxnSpPr>
          <p:nvPr/>
        </p:nvCxnSpPr>
        <p:spPr>
          <a:xfrm>
            <a:off x="2798633" y="5464088"/>
            <a:ext cx="275912" cy="282862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80239922-38A7-AC4B-BE4E-ACF0C0F66FAB}"/>
              </a:ext>
            </a:extLst>
          </p:cNvPr>
          <p:cNvSpPr txBox="1"/>
          <p:nvPr/>
        </p:nvSpPr>
        <p:spPr>
          <a:xfrm>
            <a:off x="4744099" y="5072861"/>
            <a:ext cx="267114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Si es la primera vez, esperar a que instale los complementos necesarios para realizar la firma.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35C3FA1-1245-FCFF-E2AB-F7DE70F65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907" y="1398372"/>
            <a:ext cx="8059069" cy="723583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7359844F-BE81-B52F-CAC4-F437F3B8751E}"/>
              </a:ext>
            </a:extLst>
          </p:cNvPr>
          <p:cNvSpPr/>
          <p:nvPr/>
        </p:nvSpPr>
        <p:spPr>
          <a:xfrm>
            <a:off x="7226646" y="1461083"/>
            <a:ext cx="1925945" cy="624179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5AA3F96-D787-F949-6470-FE78F13824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0777" y="2507263"/>
            <a:ext cx="2880525" cy="1639615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7A10F31C-2763-EAEE-10F9-C1B6728A849F}"/>
              </a:ext>
            </a:extLst>
          </p:cNvPr>
          <p:cNvSpPr txBox="1"/>
          <p:nvPr/>
        </p:nvSpPr>
        <p:spPr>
          <a:xfrm>
            <a:off x="5146443" y="2824390"/>
            <a:ext cx="216073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400" b="1" dirty="0"/>
              <a:t>Nota:</a:t>
            </a:r>
            <a:r>
              <a:rPr lang="es-PE" sz="1400" dirty="0"/>
              <a:t> Si usted tiene el </a:t>
            </a:r>
            <a:r>
              <a:rPr lang="es-PE" sz="1400" b="1" dirty="0"/>
              <a:t>rol de almacenero </a:t>
            </a:r>
            <a:r>
              <a:rPr lang="es-PE" sz="1400" dirty="0"/>
              <a:t>podrá realizar la firma por contraseña.</a:t>
            </a:r>
          </a:p>
        </p:txBody>
      </p:sp>
      <p:sp>
        <p:nvSpPr>
          <p:cNvPr id="12" name="Llaves 11">
            <a:extLst>
              <a:ext uri="{FF2B5EF4-FFF2-40B4-BE49-F238E27FC236}">
                <a16:creationId xmlns:a16="http://schemas.microsoft.com/office/drawing/2014/main" id="{100AC4DC-1B1D-2B5B-49E4-4B655A03E48B}"/>
              </a:ext>
            </a:extLst>
          </p:cNvPr>
          <p:cNvSpPr/>
          <p:nvPr/>
        </p:nvSpPr>
        <p:spPr>
          <a:xfrm>
            <a:off x="4749593" y="2619648"/>
            <a:ext cx="2806240" cy="1355557"/>
          </a:xfrm>
          <a:prstGeom prst="bracePair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3" name="Llaves 22">
            <a:extLst>
              <a:ext uri="{FF2B5EF4-FFF2-40B4-BE49-F238E27FC236}">
                <a16:creationId xmlns:a16="http://schemas.microsoft.com/office/drawing/2014/main" id="{82DBA477-9E01-BAFC-1C12-2D975CD70EBF}"/>
              </a:ext>
            </a:extLst>
          </p:cNvPr>
          <p:cNvSpPr/>
          <p:nvPr/>
        </p:nvSpPr>
        <p:spPr>
          <a:xfrm>
            <a:off x="4432584" y="4858326"/>
            <a:ext cx="3251584" cy="1355557"/>
          </a:xfrm>
          <a:prstGeom prst="bracePair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3FC95C96-2BCB-9B18-3A0D-8BC162174089}"/>
              </a:ext>
            </a:extLst>
          </p:cNvPr>
          <p:cNvSpPr txBox="1"/>
          <p:nvPr/>
        </p:nvSpPr>
        <p:spPr>
          <a:xfrm>
            <a:off x="8191795" y="3372949"/>
            <a:ext cx="21230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PE" b="1" u="sng" dirty="0">
                <a:solidFill>
                  <a:schemeClr val="accent5"/>
                </a:solidFill>
              </a:rPr>
              <a:t>IMPORTANTE</a:t>
            </a:r>
          </a:p>
          <a:p>
            <a:pPr algn="ctr"/>
            <a:r>
              <a:rPr lang="es-PE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Para firmar digitalmente utilizar el navegador Microsoft Edge</a:t>
            </a:r>
            <a:endParaRPr lang="es-PE" sz="1200" dirty="0"/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D4F6EBDB-FC98-7005-4ECE-36E2535225D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2300" t="31991" r="11330" b="29249"/>
          <a:stretch/>
        </p:blipFill>
        <p:spPr>
          <a:xfrm>
            <a:off x="7995683" y="4367228"/>
            <a:ext cx="2477452" cy="705633"/>
          </a:xfrm>
          <a:prstGeom prst="rect">
            <a:avLst/>
          </a:prstGeom>
        </p:spPr>
      </p:pic>
      <p:sp>
        <p:nvSpPr>
          <p:cNvPr id="31" name="Rectángulo 30">
            <a:extLst>
              <a:ext uri="{FF2B5EF4-FFF2-40B4-BE49-F238E27FC236}">
                <a16:creationId xmlns:a16="http://schemas.microsoft.com/office/drawing/2014/main" id="{90D9AD93-FC80-453D-1862-5B7E3AE7A88D}"/>
              </a:ext>
            </a:extLst>
          </p:cNvPr>
          <p:cNvSpPr/>
          <p:nvPr/>
        </p:nvSpPr>
        <p:spPr>
          <a:xfrm>
            <a:off x="7784124" y="3236624"/>
            <a:ext cx="2988150" cy="2033208"/>
          </a:xfrm>
          <a:prstGeom prst="rect">
            <a:avLst/>
          </a:prstGeom>
          <a:noFill/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87593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D94478-E595-9916-3D2B-E25266EA7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934" y="377741"/>
            <a:ext cx="8596667" cy="566738"/>
          </a:xfrm>
        </p:spPr>
        <p:txBody>
          <a:bodyPr/>
          <a:lstStyle/>
          <a:p>
            <a:r>
              <a:rPr lang="es-PE" dirty="0"/>
              <a:t>FIRMAR VARIOS REPORTES A LA VEZ</a:t>
            </a:r>
          </a:p>
        </p:txBody>
      </p:sp>
      <p:sp>
        <p:nvSpPr>
          <p:cNvPr id="9" name="Marcador de texto 3">
            <a:extLst>
              <a:ext uri="{FF2B5EF4-FFF2-40B4-BE49-F238E27FC236}">
                <a16:creationId xmlns:a16="http://schemas.microsoft.com/office/drawing/2014/main" id="{968F9141-3EB1-96A9-026E-035F8F7DB9E2}"/>
              </a:ext>
            </a:extLst>
          </p:cNvPr>
          <p:cNvSpPr txBox="1">
            <a:spLocks/>
          </p:cNvSpPr>
          <p:nvPr/>
        </p:nvSpPr>
        <p:spPr>
          <a:xfrm>
            <a:off x="692291" y="2085262"/>
            <a:ext cx="4010338" cy="4524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sz="1400" dirty="0"/>
              <a:t>2. Seleccionar el rol con el cual firmará</a:t>
            </a:r>
          </a:p>
          <a:p>
            <a:endParaRPr lang="es-PE" sz="16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C093ACA-BD81-EF37-F5D2-6CE462F7BBB1}"/>
              </a:ext>
            </a:extLst>
          </p:cNvPr>
          <p:cNvSpPr txBox="1"/>
          <p:nvPr/>
        </p:nvSpPr>
        <p:spPr>
          <a:xfrm>
            <a:off x="618812" y="1046368"/>
            <a:ext cx="80599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1. Para firmar varios reportes a la vez usted deberá seguir la siguiente secuencia. 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59E05E36-B005-DA70-429B-ADF337FB3B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1597" r="33121"/>
          <a:stretch/>
        </p:blipFill>
        <p:spPr>
          <a:xfrm>
            <a:off x="818848" y="1439574"/>
            <a:ext cx="8153843" cy="62570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D7CBFD93-B2BF-2B48-525A-AE157ABA6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907" y="2493030"/>
            <a:ext cx="1771897" cy="1471397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23B0DDBA-7145-D2CC-2668-AA35AAE105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748" y="4615896"/>
            <a:ext cx="8680309" cy="1291009"/>
          </a:xfrm>
          <a:prstGeom prst="rect">
            <a:avLst/>
          </a:prstGeom>
        </p:spPr>
      </p:pic>
      <p:sp>
        <p:nvSpPr>
          <p:cNvPr id="18" name="Marcador de texto 3">
            <a:extLst>
              <a:ext uri="{FF2B5EF4-FFF2-40B4-BE49-F238E27FC236}">
                <a16:creationId xmlns:a16="http://schemas.microsoft.com/office/drawing/2014/main" id="{B07EC81D-6C25-B01E-A6D1-732CBE0E5D3C}"/>
              </a:ext>
            </a:extLst>
          </p:cNvPr>
          <p:cNvSpPr txBox="1">
            <a:spLocks/>
          </p:cNvSpPr>
          <p:nvPr/>
        </p:nvSpPr>
        <p:spPr>
          <a:xfrm>
            <a:off x="692291" y="4123991"/>
            <a:ext cx="7047452" cy="4524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sz="1400" dirty="0"/>
              <a:t>3. Seleccionar dos o más reportes para firmar o seleccionar todos los reportes</a:t>
            </a:r>
          </a:p>
          <a:p>
            <a:endParaRPr lang="es-PE" sz="1600" dirty="0"/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74C1AE8D-6766-9318-6B28-53E5BCC6A5A2}"/>
              </a:ext>
            </a:extLst>
          </p:cNvPr>
          <p:cNvCxnSpPr>
            <a:cxnSpLocks/>
          </p:cNvCxnSpPr>
          <p:nvPr/>
        </p:nvCxnSpPr>
        <p:spPr>
          <a:xfrm flipH="1">
            <a:off x="915689" y="5383706"/>
            <a:ext cx="400051" cy="21212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F1EBB3C5-5EF0-C90F-A6EB-9AE59285403F}"/>
              </a:ext>
            </a:extLst>
          </p:cNvPr>
          <p:cNvCxnSpPr>
            <a:cxnSpLocks/>
          </p:cNvCxnSpPr>
          <p:nvPr/>
        </p:nvCxnSpPr>
        <p:spPr>
          <a:xfrm>
            <a:off x="464505" y="4777018"/>
            <a:ext cx="275912" cy="282862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80239922-38A7-AC4B-BE4E-ACF0C0F66FAB}"/>
              </a:ext>
            </a:extLst>
          </p:cNvPr>
          <p:cNvSpPr txBox="1"/>
          <p:nvPr/>
        </p:nvSpPr>
        <p:spPr>
          <a:xfrm>
            <a:off x="648747" y="6150610"/>
            <a:ext cx="100994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4. Luego usted tendrá que seleccionar el botón                        para firmar todos los reportes seleccionados</a:t>
            </a:r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3E83FC41-5188-D4EA-D299-BBB0FD67DF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8679" y="6140353"/>
            <a:ext cx="1095528" cy="33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86704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120</TotalTime>
  <Words>593</Words>
  <Application>Microsoft Office PowerPoint</Application>
  <PresentationFormat>Panorámica</PresentationFormat>
  <Paragraphs>97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3" baseType="lpstr">
      <vt:lpstr>Arial</vt:lpstr>
      <vt:lpstr>Trebuchet MS</vt:lpstr>
      <vt:lpstr>Wingdings 3</vt:lpstr>
      <vt:lpstr>Faceta</vt:lpstr>
      <vt:lpstr>SISTEMA KAREN</vt:lpstr>
      <vt:lpstr>INGRESAR AL SISTEMA</vt:lpstr>
      <vt:lpstr>PRIMER ACCESO</vt:lpstr>
      <vt:lpstr>VISTA DEL SISTEMA</vt:lpstr>
      <vt:lpstr>CARGA DE DATOS</vt:lpstr>
      <vt:lpstr>CARGA DE DATOS</vt:lpstr>
      <vt:lpstr>MOVIMIENTOS DE ALMACEN</vt:lpstr>
      <vt:lpstr>BUSQUEDA DE UN ÍTEM</vt:lpstr>
      <vt:lpstr>REGISTRAR MOVIMIENTO DE ALMACEN</vt:lpstr>
      <vt:lpstr>INGRESAR REGISTRO DE MOVIMIENTO </vt:lpstr>
      <vt:lpstr>VER MOVIMIENTOS REALIZADOS</vt:lpstr>
      <vt:lpstr>VISUALIZAR REGISTRO DE MOVIMIENTO </vt:lpstr>
      <vt:lpstr>GENERAR REPORTES</vt:lpstr>
      <vt:lpstr>GENERACIÓN DE REPORTES</vt:lpstr>
      <vt:lpstr>VISTA DE REPORTES</vt:lpstr>
      <vt:lpstr>GENERAR REPORTE</vt:lpstr>
      <vt:lpstr>ACCIONES DEL REPORTE</vt:lpstr>
      <vt:lpstr>FIRMAR EL REPORTE</vt:lpstr>
      <vt:lpstr>FIRMAR VARIOS REPORTES A LA VEZ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KAREN</dc:title>
  <dc:creator>ADDERLY</dc:creator>
  <cp:lastModifiedBy>ADDERLY</cp:lastModifiedBy>
  <cp:revision>22</cp:revision>
  <dcterms:created xsi:type="dcterms:W3CDTF">2025-11-13T15:31:33Z</dcterms:created>
  <dcterms:modified xsi:type="dcterms:W3CDTF">2025-11-17T15:12:18Z</dcterms:modified>
</cp:coreProperties>
</file>